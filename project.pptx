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Gill Sans Light" charset="1" panose="020B03020201040202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90316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9798" y="4628645"/>
            <a:ext cx="16894302" cy="4957201"/>
            <a:chOff x="0" y="0"/>
            <a:chExt cx="22525736" cy="66096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25737" cy="6609588"/>
            </a:xfrm>
            <a:custGeom>
              <a:avLst/>
              <a:gdLst/>
              <a:ahLst/>
              <a:cxnLst/>
              <a:rect r="r" b="b" t="t" l="l"/>
              <a:pathLst>
                <a:path h="6609588" w="22525737">
                  <a:moveTo>
                    <a:pt x="0" y="0"/>
                  </a:moveTo>
                  <a:lnTo>
                    <a:pt x="22525737" y="0"/>
                  </a:lnTo>
                  <a:lnTo>
                    <a:pt x="22525737" y="6609588"/>
                  </a:lnTo>
                  <a:lnTo>
                    <a:pt x="0" y="6609588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530648"/>
            <a:ext cx="16490328" cy="2212524"/>
            <a:chOff x="0" y="0"/>
            <a:chExt cx="21987104" cy="29500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87098" cy="2950026"/>
            </a:xfrm>
            <a:custGeom>
              <a:avLst/>
              <a:gdLst/>
              <a:ahLst/>
              <a:cxnLst/>
              <a:rect r="r" b="b" t="t" l="l"/>
              <a:pathLst>
                <a:path h="2950026" w="21987098">
                  <a:moveTo>
                    <a:pt x="0" y="0"/>
                  </a:moveTo>
                  <a:lnTo>
                    <a:pt x="21987098" y="0"/>
                  </a:lnTo>
                  <a:lnTo>
                    <a:pt x="21987098" y="2950026"/>
                  </a:lnTo>
                  <a:lnTo>
                    <a:pt x="0" y="29500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225" r="0" b="-9522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04775"/>
              <a:ext cx="21987104" cy="305480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>
                  <a:solidFill>
                    <a:srgbClr val="4D1434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Krugna technologies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63225" y="4688081"/>
            <a:ext cx="16307438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EBEBEB"/>
                </a:solidFill>
                <a:latin typeface="Gill Sans Light"/>
                <a:ea typeface="Gill Sans Light"/>
                <a:cs typeface="Gill Sans Light"/>
                <a:sym typeface="Gill Sans Light"/>
              </a:rPr>
              <a:t>Project presentation</a:t>
            </a: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EBEBEB"/>
                </a:solidFill>
                <a:latin typeface="Gill Sans Light"/>
                <a:ea typeface="Gill Sans Light"/>
                <a:cs typeface="Gill Sans Light"/>
                <a:sym typeface="Gill Sans Light"/>
              </a:rPr>
              <a:t>Title </a:t>
            </a: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EBEBEB"/>
                </a:solidFill>
                <a:latin typeface="Gill Sans Light"/>
                <a:ea typeface="Gill Sans Light"/>
                <a:cs typeface="Gill Sans Light"/>
                <a:sym typeface="Gill Sans Light"/>
              </a:rPr>
              <a:t>bank loan approval prediction and analysis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EBEBEB"/>
                </a:solidFill>
                <a:latin typeface="Gill Sans Light"/>
                <a:ea typeface="Gill Sans Light"/>
                <a:cs typeface="Gill Sans Light"/>
                <a:sym typeface="Gill Sans Light"/>
              </a:rPr>
              <a:t>Team member: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EBEBEB"/>
                </a:solidFill>
                <a:latin typeface="Gill Sans Light"/>
                <a:ea typeface="Gill Sans Light"/>
                <a:cs typeface="Gill Sans Light"/>
                <a:sym typeface="Gill Sans Light"/>
              </a:rPr>
              <a:t>Sahana M A [4bd22cb030]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90316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420" cy="1520704"/>
            <a:chOff x="0" y="0"/>
            <a:chExt cx="22059227" cy="20276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232" cy="2027600"/>
            </a:xfrm>
            <a:custGeom>
              <a:avLst/>
              <a:gdLst/>
              <a:ahLst/>
              <a:cxnLst/>
              <a:rect r="r" b="b" t="t" l="l"/>
              <a:pathLst>
                <a:path h="2027600" w="22059232">
                  <a:moveTo>
                    <a:pt x="0" y="0"/>
                  </a:moveTo>
                  <a:lnTo>
                    <a:pt x="22059232" y="0"/>
                  </a:lnTo>
                  <a:lnTo>
                    <a:pt x="22059232" y="2027600"/>
                  </a:lnTo>
                  <a:lnTo>
                    <a:pt x="0" y="202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986" r="0" b="-1619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9227" cy="211333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Agenda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71785" y="3133106"/>
            <a:ext cx="3964657" cy="5792724"/>
            <a:chOff x="0" y="0"/>
            <a:chExt cx="5286210" cy="77236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86216" cy="7723634"/>
            </a:xfrm>
            <a:custGeom>
              <a:avLst/>
              <a:gdLst/>
              <a:ahLst/>
              <a:cxnLst/>
              <a:rect r="r" b="b" t="t" l="l"/>
              <a:pathLst>
                <a:path h="7723634" w="5286216">
                  <a:moveTo>
                    <a:pt x="0" y="0"/>
                  </a:moveTo>
                  <a:lnTo>
                    <a:pt x="5286216" y="0"/>
                  </a:lnTo>
                  <a:lnTo>
                    <a:pt x="5286216" y="7723634"/>
                  </a:lnTo>
                  <a:lnTo>
                    <a:pt x="0" y="77236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7462" t="0" r="-13746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5286210" cy="77807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Intr</a:t>
              </a: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oduction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Objective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Dataset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Technologies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Methodology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Data Analysis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Machine Learning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Power BI Dashboard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Conclusion 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90316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420" cy="1520704"/>
            <a:chOff x="0" y="0"/>
            <a:chExt cx="22059227" cy="20276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232" cy="2027600"/>
            </a:xfrm>
            <a:custGeom>
              <a:avLst/>
              <a:gdLst/>
              <a:ahLst/>
              <a:cxnLst/>
              <a:rect r="r" b="b" t="t" l="l"/>
              <a:pathLst>
                <a:path h="2027600" w="22059232">
                  <a:moveTo>
                    <a:pt x="0" y="0"/>
                  </a:moveTo>
                  <a:lnTo>
                    <a:pt x="22059232" y="0"/>
                  </a:lnTo>
                  <a:lnTo>
                    <a:pt x="22059232" y="2027600"/>
                  </a:lnTo>
                  <a:lnTo>
                    <a:pt x="0" y="202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986" r="0" b="-1619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9227" cy="211333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Introduction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71785" y="4007139"/>
            <a:ext cx="8271977" cy="2923794"/>
            <a:chOff x="0" y="0"/>
            <a:chExt cx="11029302" cy="38983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9296" cy="3898394"/>
            </a:xfrm>
            <a:custGeom>
              <a:avLst/>
              <a:gdLst/>
              <a:ahLst/>
              <a:cxnLst/>
              <a:rect r="r" b="b" t="t" l="l"/>
              <a:pathLst>
                <a:path h="3898394" w="11029296">
                  <a:moveTo>
                    <a:pt x="0" y="0"/>
                  </a:moveTo>
                  <a:lnTo>
                    <a:pt x="11029296" y="0"/>
                  </a:lnTo>
                  <a:lnTo>
                    <a:pt x="11029296" y="3898394"/>
                  </a:lnTo>
                  <a:lnTo>
                    <a:pt x="0" y="38983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26" r="0" b="-512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1029302" cy="39555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Loan approval is an important process in banking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Manual decisions are time-consuming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Data analytics helps automate decisions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This project uses PySpark and ML 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90316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420" cy="1520704"/>
            <a:chOff x="0" y="0"/>
            <a:chExt cx="22059227" cy="20276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232" cy="2027600"/>
            </a:xfrm>
            <a:custGeom>
              <a:avLst/>
              <a:gdLst/>
              <a:ahLst/>
              <a:cxnLst/>
              <a:rect r="r" b="b" t="t" l="l"/>
              <a:pathLst>
                <a:path h="2027600" w="22059232">
                  <a:moveTo>
                    <a:pt x="0" y="0"/>
                  </a:moveTo>
                  <a:lnTo>
                    <a:pt x="22059232" y="0"/>
                  </a:lnTo>
                  <a:lnTo>
                    <a:pt x="22059232" y="2027600"/>
                  </a:lnTo>
                  <a:lnTo>
                    <a:pt x="0" y="202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986" r="0" b="-1619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9227" cy="211333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Objective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71785" y="4361097"/>
            <a:ext cx="6577641" cy="2923794"/>
            <a:chOff x="0" y="0"/>
            <a:chExt cx="8770188" cy="38983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770184" cy="3898394"/>
            </a:xfrm>
            <a:custGeom>
              <a:avLst/>
              <a:gdLst/>
              <a:ahLst/>
              <a:cxnLst/>
              <a:rect r="r" b="b" t="t" l="l"/>
              <a:pathLst>
                <a:path h="3898394" w="8770184">
                  <a:moveTo>
                    <a:pt x="0" y="0"/>
                  </a:moveTo>
                  <a:lnTo>
                    <a:pt x="8770184" y="0"/>
                  </a:lnTo>
                  <a:lnTo>
                    <a:pt x="8770184" y="3898394"/>
                  </a:lnTo>
                  <a:lnTo>
                    <a:pt x="0" y="38983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31" t="0" r="-7031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8770188" cy="39555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Analyze loan applicant data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Identify key factors affecting approval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Build prediction model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Visualize results using dashboard 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90316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420" cy="1520704"/>
            <a:chOff x="0" y="0"/>
            <a:chExt cx="22059227" cy="20276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232" cy="2027600"/>
            </a:xfrm>
            <a:custGeom>
              <a:avLst/>
              <a:gdLst/>
              <a:ahLst/>
              <a:cxnLst/>
              <a:rect r="r" b="b" t="t" l="l"/>
              <a:pathLst>
                <a:path h="2027600" w="22059232">
                  <a:moveTo>
                    <a:pt x="0" y="0"/>
                  </a:moveTo>
                  <a:lnTo>
                    <a:pt x="22059232" y="0"/>
                  </a:lnTo>
                  <a:lnTo>
                    <a:pt x="22059232" y="2027600"/>
                  </a:lnTo>
                  <a:lnTo>
                    <a:pt x="0" y="202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986" r="0" b="-1619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9227" cy="211333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Dataset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71785" y="3823440"/>
            <a:ext cx="6095581" cy="4117086"/>
            <a:chOff x="0" y="0"/>
            <a:chExt cx="8127441" cy="54894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7444" cy="5489450"/>
            </a:xfrm>
            <a:custGeom>
              <a:avLst/>
              <a:gdLst/>
              <a:ahLst/>
              <a:cxnLst/>
              <a:rect r="r" b="b" t="t" l="l"/>
              <a:pathLst>
                <a:path h="5489450" w="8127444">
                  <a:moveTo>
                    <a:pt x="0" y="0"/>
                  </a:moveTo>
                  <a:lnTo>
                    <a:pt x="8127444" y="0"/>
                  </a:lnTo>
                  <a:lnTo>
                    <a:pt x="8127444" y="5489450"/>
                  </a:lnTo>
                  <a:lnTo>
                    <a:pt x="0" y="54894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658" t="0" r="-36658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8127441" cy="55465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Applicant Income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Loan Amount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Credit History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Gender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Education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Loan Status (Approved / Rejected) 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90316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420" cy="1520704"/>
            <a:chOff x="0" y="0"/>
            <a:chExt cx="22059227" cy="20276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232" cy="2027600"/>
            </a:xfrm>
            <a:custGeom>
              <a:avLst/>
              <a:gdLst/>
              <a:ahLst/>
              <a:cxnLst/>
              <a:rect r="r" b="b" t="t" l="l"/>
              <a:pathLst>
                <a:path h="2027600" w="22059232">
                  <a:moveTo>
                    <a:pt x="0" y="0"/>
                  </a:moveTo>
                  <a:lnTo>
                    <a:pt x="22059232" y="0"/>
                  </a:lnTo>
                  <a:lnTo>
                    <a:pt x="22059232" y="2027600"/>
                  </a:lnTo>
                  <a:lnTo>
                    <a:pt x="0" y="202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986" r="0" b="-1619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9227" cy="211333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Technologies Used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71785" y="4228367"/>
            <a:ext cx="5662270" cy="2923794"/>
            <a:chOff x="0" y="0"/>
            <a:chExt cx="7549693" cy="38983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549694" cy="3898394"/>
            </a:xfrm>
            <a:custGeom>
              <a:avLst/>
              <a:gdLst/>
              <a:ahLst/>
              <a:cxnLst/>
              <a:rect r="r" b="b" t="t" l="l"/>
              <a:pathLst>
                <a:path h="3898394" w="7549694">
                  <a:moveTo>
                    <a:pt x="0" y="0"/>
                  </a:moveTo>
                  <a:lnTo>
                    <a:pt x="7549694" y="0"/>
                  </a:lnTo>
                  <a:lnTo>
                    <a:pt x="7549694" y="3898394"/>
                  </a:lnTo>
                  <a:lnTo>
                    <a:pt x="0" y="38983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251" t="0" r="-16251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7549693" cy="39555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PySpark (Big Data Processing)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SQL (Data Analysis)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Logistic Regression (ML Model)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Power BI (Visualization) 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90316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420" cy="1520704"/>
            <a:chOff x="0" y="0"/>
            <a:chExt cx="22059227" cy="20276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232" cy="2027600"/>
            </a:xfrm>
            <a:custGeom>
              <a:avLst/>
              <a:gdLst/>
              <a:ahLst/>
              <a:cxnLst/>
              <a:rect r="r" b="b" t="t" l="l"/>
              <a:pathLst>
                <a:path h="2027600" w="22059232">
                  <a:moveTo>
                    <a:pt x="0" y="0"/>
                  </a:moveTo>
                  <a:lnTo>
                    <a:pt x="22059232" y="0"/>
                  </a:lnTo>
                  <a:lnTo>
                    <a:pt x="22059232" y="2027600"/>
                  </a:lnTo>
                  <a:lnTo>
                    <a:pt x="0" y="202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986" r="0" b="-1619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9227" cy="211333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Methodology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651527" y="3596307"/>
            <a:ext cx="9771907" cy="6049147"/>
            <a:chOff x="0" y="0"/>
            <a:chExt cx="13029209" cy="80655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029185" cy="8065516"/>
            </a:xfrm>
            <a:custGeom>
              <a:avLst/>
              <a:gdLst/>
              <a:ahLst/>
              <a:cxnLst/>
              <a:rect r="r" b="b" t="t" l="l"/>
              <a:pathLst>
                <a:path h="8065516" w="13029185">
                  <a:moveTo>
                    <a:pt x="0" y="0"/>
                  </a:moveTo>
                  <a:lnTo>
                    <a:pt x="13029185" y="0"/>
                  </a:lnTo>
                  <a:lnTo>
                    <a:pt x="13029185" y="8065516"/>
                  </a:lnTo>
                  <a:lnTo>
                    <a:pt x="0" y="80655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847" r="0" b="-3847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25753" y="3499780"/>
            <a:ext cx="4636770" cy="4599432"/>
            <a:chOff x="0" y="0"/>
            <a:chExt cx="6182360" cy="61325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82360" cy="6132580"/>
            </a:xfrm>
            <a:custGeom>
              <a:avLst/>
              <a:gdLst/>
              <a:ahLst/>
              <a:cxnLst/>
              <a:rect r="r" b="b" t="t" l="l"/>
              <a:pathLst>
                <a:path h="6132580" w="6182360">
                  <a:moveTo>
                    <a:pt x="0" y="0"/>
                  </a:moveTo>
                  <a:lnTo>
                    <a:pt x="6182360" y="0"/>
                  </a:lnTo>
                  <a:lnTo>
                    <a:pt x="6182360" y="6132580"/>
                  </a:lnTo>
                  <a:lnTo>
                    <a:pt x="0" y="61325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7270" t="0" r="-7727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6182360" cy="61897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</a:t>
              </a: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Data Collection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Data Cleaning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Data Transformation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Data Analysis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Machine Learning Model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Evaluation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Visualization 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90316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420" cy="1520704"/>
            <a:chOff x="0" y="0"/>
            <a:chExt cx="22059227" cy="20276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232" cy="2027600"/>
            </a:xfrm>
            <a:custGeom>
              <a:avLst/>
              <a:gdLst/>
              <a:ahLst/>
              <a:cxnLst/>
              <a:rect r="r" b="b" t="t" l="l"/>
              <a:pathLst>
                <a:path h="2027600" w="22059232">
                  <a:moveTo>
                    <a:pt x="0" y="0"/>
                  </a:moveTo>
                  <a:lnTo>
                    <a:pt x="22059232" y="0"/>
                  </a:lnTo>
                  <a:lnTo>
                    <a:pt x="22059232" y="2027600"/>
                  </a:lnTo>
                  <a:lnTo>
                    <a:pt x="0" y="202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986" r="0" b="-1619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9227" cy="211333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PySpark Processing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71785" y="4480674"/>
            <a:ext cx="6226550" cy="2923794"/>
            <a:chOff x="0" y="0"/>
            <a:chExt cx="8302066" cy="38983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302068" cy="3898394"/>
            </a:xfrm>
            <a:custGeom>
              <a:avLst/>
              <a:gdLst/>
              <a:ahLst/>
              <a:cxnLst/>
              <a:rect r="r" b="b" t="t" l="l"/>
              <a:pathLst>
                <a:path h="3898394" w="8302068">
                  <a:moveTo>
                    <a:pt x="0" y="0"/>
                  </a:moveTo>
                  <a:lnTo>
                    <a:pt x="8302068" y="0"/>
                  </a:lnTo>
                  <a:lnTo>
                    <a:pt x="8302068" y="3898394"/>
                  </a:lnTo>
                  <a:lnTo>
                    <a:pt x="0" y="38983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247" t="0" r="-10247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8302066" cy="39555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Created Spark Session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Loaded dataset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Cleaned data (removed null values)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Performed analysis using PySpark 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90316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420" cy="1520704"/>
            <a:chOff x="0" y="0"/>
            <a:chExt cx="22059227" cy="20276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232" cy="2027600"/>
            </a:xfrm>
            <a:custGeom>
              <a:avLst/>
              <a:gdLst/>
              <a:ahLst/>
              <a:cxnLst/>
              <a:rect r="r" b="b" t="t" l="l"/>
              <a:pathLst>
                <a:path h="2027600" w="22059232">
                  <a:moveTo>
                    <a:pt x="0" y="0"/>
                  </a:moveTo>
                  <a:lnTo>
                    <a:pt x="22059232" y="0"/>
                  </a:lnTo>
                  <a:lnTo>
                    <a:pt x="22059232" y="2027600"/>
                  </a:lnTo>
                  <a:lnTo>
                    <a:pt x="0" y="202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986" r="0" b="-1619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9227" cy="211333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PySpark Processing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80793" y="3045885"/>
            <a:ext cx="8176508" cy="6938772"/>
            <a:chOff x="0" y="0"/>
            <a:chExt cx="10902010" cy="92516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02061" cy="9251696"/>
            </a:xfrm>
            <a:custGeom>
              <a:avLst/>
              <a:gdLst/>
              <a:ahLst/>
              <a:cxnLst/>
              <a:rect r="r" b="b" t="t" l="l"/>
              <a:pathLst>
                <a:path h="9251696" w="10902061">
                  <a:moveTo>
                    <a:pt x="0" y="0"/>
                  </a:moveTo>
                  <a:lnTo>
                    <a:pt x="10902061" y="0"/>
                  </a:lnTo>
                  <a:lnTo>
                    <a:pt x="10902061" y="9251696"/>
                  </a:lnTo>
                  <a:lnTo>
                    <a:pt x="0" y="92516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3361" t="0" r="-23361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762468" y="3045885"/>
            <a:ext cx="7168686" cy="6929799"/>
            <a:chOff x="0" y="0"/>
            <a:chExt cx="9558249" cy="92397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58274" cy="9239758"/>
            </a:xfrm>
            <a:custGeom>
              <a:avLst/>
              <a:gdLst/>
              <a:ahLst/>
              <a:cxnLst/>
              <a:rect r="r" b="b" t="t" l="l"/>
              <a:pathLst>
                <a:path h="9239758" w="9558274">
                  <a:moveTo>
                    <a:pt x="0" y="0"/>
                  </a:moveTo>
                  <a:lnTo>
                    <a:pt x="9558274" y="0"/>
                  </a:lnTo>
                  <a:lnTo>
                    <a:pt x="9558274" y="9239758"/>
                  </a:lnTo>
                  <a:lnTo>
                    <a:pt x="0" y="923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1500" r="0" b="-21499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90316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420" cy="1520704"/>
            <a:chOff x="0" y="0"/>
            <a:chExt cx="22059227" cy="20276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232" cy="2027600"/>
            </a:xfrm>
            <a:custGeom>
              <a:avLst/>
              <a:gdLst/>
              <a:ahLst/>
              <a:cxnLst/>
              <a:rect r="r" b="b" t="t" l="l"/>
              <a:pathLst>
                <a:path h="2027600" w="22059232">
                  <a:moveTo>
                    <a:pt x="0" y="0"/>
                  </a:moveTo>
                  <a:lnTo>
                    <a:pt x="22059232" y="0"/>
                  </a:lnTo>
                  <a:lnTo>
                    <a:pt x="22059232" y="2027600"/>
                  </a:lnTo>
                  <a:lnTo>
                    <a:pt x="0" y="202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986" r="0" b="-1619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9227" cy="211333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Data Analysis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71785" y="3270742"/>
            <a:ext cx="16544420" cy="5517452"/>
            <a:chOff x="0" y="0"/>
            <a:chExt cx="22059227" cy="73566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059230" cy="7356606"/>
            </a:xfrm>
            <a:custGeom>
              <a:avLst/>
              <a:gdLst/>
              <a:ahLst/>
              <a:cxnLst/>
              <a:rect r="r" b="b" t="t" l="l"/>
              <a:pathLst>
                <a:path h="7356606" w="22059230">
                  <a:moveTo>
                    <a:pt x="0" y="0"/>
                  </a:moveTo>
                  <a:lnTo>
                    <a:pt x="22059230" y="0"/>
                  </a:lnTo>
                  <a:lnTo>
                    <a:pt x="22059230" y="7356606"/>
                  </a:lnTo>
                  <a:lnTo>
                    <a:pt x="0" y="735660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27" r="0" b="-842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2059227" cy="7413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Loan approval count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Income vs loan status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Credit history impact </a:t>
              </a:r>
            </a:p>
            <a:p>
              <a:pPr algn="l" marL="488632" indent="-244316" lvl="1">
                <a:lnSpc>
                  <a:spcPts val="3240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90316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420" cy="1520704"/>
            <a:chOff x="0" y="0"/>
            <a:chExt cx="22059227" cy="20276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232" cy="2027600"/>
            </a:xfrm>
            <a:custGeom>
              <a:avLst/>
              <a:gdLst/>
              <a:ahLst/>
              <a:cxnLst/>
              <a:rect r="r" b="b" t="t" l="l"/>
              <a:pathLst>
                <a:path h="2027600" w="22059232">
                  <a:moveTo>
                    <a:pt x="0" y="0"/>
                  </a:moveTo>
                  <a:lnTo>
                    <a:pt x="22059232" y="0"/>
                  </a:lnTo>
                  <a:lnTo>
                    <a:pt x="22059232" y="2027600"/>
                  </a:lnTo>
                  <a:lnTo>
                    <a:pt x="0" y="202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986" r="0" b="-1619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9227" cy="211333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SQL Analysis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71785" y="4344753"/>
            <a:ext cx="4888354" cy="2396042"/>
            <a:chOff x="0" y="0"/>
            <a:chExt cx="6517805" cy="319472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17810" cy="3194720"/>
            </a:xfrm>
            <a:custGeom>
              <a:avLst/>
              <a:gdLst/>
              <a:ahLst/>
              <a:cxnLst/>
              <a:rect r="r" b="b" t="t" l="l"/>
              <a:pathLst>
                <a:path h="3194720" w="6517810">
                  <a:moveTo>
                    <a:pt x="0" y="0"/>
                  </a:moveTo>
                  <a:lnTo>
                    <a:pt x="6517810" y="0"/>
                  </a:lnTo>
                  <a:lnTo>
                    <a:pt x="6517810" y="3194720"/>
                  </a:lnTo>
                  <a:lnTo>
                    <a:pt x="0" y="3194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888" t="0" r="-12888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6517805" cy="32518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Count of loan approvals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Average income calculation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 Grouped data by loan status 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90316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420" cy="1520704"/>
            <a:chOff x="0" y="0"/>
            <a:chExt cx="22059227" cy="20276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232" cy="2027600"/>
            </a:xfrm>
            <a:custGeom>
              <a:avLst/>
              <a:gdLst/>
              <a:ahLst/>
              <a:cxnLst/>
              <a:rect r="r" b="b" t="t" l="l"/>
              <a:pathLst>
                <a:path h="2027600" w="22059232">
                  <a:moveTo>
                    <a:pt x="0" y="0"/>
                  </a:moveTo>
                  <a:lnTo>
                    <a:pt x="22059232" y="0"/>
                  </a:lnTo>
                  <a:lnTo>
                    <a:pt x="22059232" y="2027600"/>
                  </a:lnTo>
                  <a:lnTo>
                    <a:pt x="0" y="202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986" r="0" b="-1619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9227" cy="211333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Machine Learning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71785" y="4403750"/>
            <a:ext cx="6977101" cy="2396042"/>
            <a:chOff x="0" y="0"/>
            <a:chExt cx="9302801" cy="319472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302804" cy="3194720"/>
            </a:xfrm>
            <a:custGeom>
              <a:avLst/>
              <a:gdLst/>
              <a:ahLst/>
              <a:cxnLst/>
              <a:rect r="r" b="b" t="t" l="l"/>
              <a:pathLst>
                <a:path h="3194720" w="9302804">
                  <a:moveTo>
                    <a:pt x="0" y="0"/>
                  </a:moveTo>
                  <a:lnTo>
                    <a:pt x="9302804" y="0"/>
                  </a:lnTo>
                  <a:lnTo>
                    <a:pt x="9302804" y="3194720"/>
                  </a:lnTo>
                  <a:lnTo>
                    <a:pt x="0" y="3194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39" r="0" b="-673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9302801" cy="32518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Model: Logistic Regression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Input: Income, Loan Amount, Credit History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Output: Loan Approved / Rejected 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90316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420" cy="1520704"/>
            <a:chOff x="0" y="0"/>
            <a:chExt cx="22059227" cy="20276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232" cy="2027600"/>
            </a:xfrm>
            <a:custGeom>
              <a:avLst/>
              <a:gdLst/>
              <a:ahLst/>
              <a:cxnLst/>
              <a:rect r="r" b="b" t="t" l="l"/>
              <a:pathLst>
                <a:path h="2027600" w="22059232">
                  <a:moveTo>
                    <a:pt x="0" y="0"/>
                  </a:moveTo>
                  <a:lnTo>
                    <a:pt x="22059232" y="0"/>
                  </a:lnTo>
                  <a:lnTo>
                    <a:pt x="22059232" y="2027600"/>
                  </a:lnTo>
                  <a:lnTo>
                    <a:pt x="0" y="202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986" r="0" b="-1619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9227" cy="211333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Model Performance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71785" y="4401036"/>
            <a:ext cx="5662612" cy="1782023"/>
            <a:chOff x="0" y="0"/>
            <a:chExt cx="7550150" cy="23760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550144" cy="2376036"/>
            </a:xfrm>
            <a:custGeom>
              <a:avLst/>
              <a:gdLst/>
              <a:ahLst/>
              <a:cxnLst/>
              <a:rect r="r" b="b" t="t" l="l"/>
              <a:pathLst>
                <a:path h="2376036" w="7550144">
                  <a:moveTo>
                    <a:pt x="0" y="0"/>
                  </a:moveTo>
                  <a:lnTo>
                    <a:pt x="7550144" y="0"/>
                  </a:lnTo>
                  <a:lnTo>
                    <a:pt x="7550144" y="2376036"/>
                  </a:lnTo>
                  <a:lnTo>
                    <a:pt x="0" y="23760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16" r="0" b="-1191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7550150" cy="2433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Accuracy: ~80%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Suitable for classification problems 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90316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420" cy="1520704"/>
            <a:chOff x="0" y="0"/>
            <a:chExt cx="22059227" cy="20276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232" cy="2027600"/>
            </a:xfrm>
            <a:custGeom>
              <a:avLst/>
              <a:gdLst/>
              <a:ahLst/>
              <a:cxnLst/>
              <a:rect r="r" b="b" t="t" l="l"/>
              <a:pathLst>
                <a:path h="2027600" w="22059232">
                  <a:moveTo>
                    <a:pt x="0" y="0"/>
                  </a:moveTo>
                  <a:lnTo>
                    <a:pt x="22059232" y="0"/>
                  </a:lnTo>
                  <a:lnTo>
                    <a:pt x="22059232" y="2027600"/>
                  </a:lnTo>
                  <a:lnTo>
                    <a:pt x="0" y="202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986" r="0" b="-1619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9227" cy="211333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Power BI Dashboard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42101" y="3271838"/>
            <a:ext cx="7654414" cy="6462103"/>
            <a:chOff x="0" y="0"/>
            <a:chExt cx="10205885" cy="86161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05847" cy="8616188"/>
            </a:xfrm>
            <a:custGeom>
              <a:avLst/>
              <a:gdLst/>
              <a:ahLst/>
              <a:cxnLst/>
              <a:rect r="r" b="b" t="t" l="l"/>
              <a:pathLst>
                <a:path h="8616188" w="10205847">
                  <a:moveTo>
                    <a:pt x="0" y="0"/>
                  </a:moveTo>
                  <a:lnTo>
                    <a:pt x="10205847" y="0"/>
                  </a:lnTo>
                  <a:lnTo>
                    <a:pt x="10205847" y="8616188"/>
                  </a:lnTo>
                  <a:lnTo>
                    <a:pt x="0" y="8616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6142" t="0" r="-26142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235384" y="3271838"/>
            <a:ext cx="6982177" cy="6462103"/>
            <a:chOff x="0" y="0"/>
            <a:chExt cx="9309570" cy="861613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309608" cy="8616188"/>
            </a:xfrm>
            <a:custGeom>
              <a:avLst/>
              <a:gdLst/>
              <a:ahLst/>
              <a:cxnLst/>
              <a:rect r="r" b="b" t="t" l="l"/>
              <a:pathLst>
                <a:path h="8616188" w="9309608">
                  <a:moveTo>
                    <a:pt x="0" y="0"/>
                  </a:moveTo>
                  <a:lnTo>
                    <a:pt x="9309608" y="0"/>
                  </a:lnTo>
                  <a:lnTo>
                    <a:pt x="9309608" y="8616188"/>
                  </a:lnTo>
                  <a:lnTo>
                    <a:pt x="0" y="8616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3002" t="0" r="-33001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90316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420" cy="1520704"/>
            <a:chOff x="0" y="0"/>
            <a:chExt cx="22059227" cy="20276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232" cy="2027600"/>
            </a:xfrm>
            <a:custGeom>
              <a:avLst/>
              <a:gdLst/>
              <a:ahLst/>
              <a:cxnLst/>
              <a:rect r="r" b="b" t="t" l="l"/>
              <a:pathLst>
                <a:path h="2027600" w="22059232">
                  <a:moveTo>
                    <a:pt x="0" y="0"/>
                  </a:moveTo>
                  <a:lnTo>
                    <a:pt x="22059232" y="0"/>
                  </a:lnTo>
                  <a:lnTo>
                    <a:pt x="22059232" y="2027600"/>
                  </a:lnTo>
                  <a:lnTo>
                    <a:pt x="0" y="202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986" r="0" b="-1619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9227" cy="211333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Power BI Dashboard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71785" y="3404578"/>
            <a:ext cx="8272215" cy="5517356"/>
            <a:chOff x="0" y="0"/>
            <a:chExt cx="11029620" cy="73564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9569" cy="7356475"/>
            </a:xfrm>
            <a:custGeom>
              <a:avLst/>
              <a:gdLst/>
              <a:ahLst/>
              <a:cxnLst/>
              <a:rect r="r" b="b" t="t" l="l"/>
              <a:pathLst>
                <a:path h="7356475" w="11029569">
                  <a:moveTo>
                    <a:pt x="0" y="0"/>
                  </a:moveTo>
                  <a:lnTo>
                    <a:pt x="11029569" y="0"/>
                  </a:lnTo>
                  <a:lnTo>
                    <a:pt x="11029569" y="7356475"/>
                  </a:lnTo>
                  <a:lnTo>
                    <a:pt x="0" y="7356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217" t="0" r="-10217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058400" y="3404568"/>
            <a:ext cx="7223465" cy="5517356"/>
            <a:chOff x="0" y="0"/>
            <a:chExt cx="9631286" cy="73564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31299" cy="7356475"/>
            </a:xfrm>
            <a:custGeom>
              <a:avLst/>
              <a:gdLst/>
              <a:ahLst/>
              <a:cxnLst/>
              <a:rect r="r" b="b" t="t" l="l"/>
              <a:pathLst>
                <a:path h="7356475" w="9631299">
                  <a:moveTo>
                    <a:pt x="0" y="0"/>
                  </a:moveTo>
                  <a:lnTo>
                    <a:pt x="9631299" y="0"/>
                  </a:lnTo>
                  <a:lnTo>
                    <a:pt x="9631299" y="7356475"/>
                  </a:lnTo>
                  <a:lnTo>
                    <a:pt x="0" y="7356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180" t="0" r="-18180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90316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420" cy="1520704"/>
            <a:chOff x="0" y="0"/>
            <a:chExt cx="22059227" cy="20276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232" cy="2027600"/>
            </a:xfrm>
            <a:custGeom>
              <a:avLst/>
              <a:gdLst/>
              <a:ahLst/>
              <a:cxnLst/>
              <a:rect r="r" b="b" t="t" l="l"/>
              <a:pathLst>
                <a:path h="2027600" w="22059232">
                  <a:moveTo>
                    <a:pt x="0" y="0"/>
                  </a:moveTo>
                  <a:lnTo>
                    <a:pt x="22059232" y="0"/>
                  </a:lnTo>
                  <a:lnTo>
                    <a:pt x="22059232" y="2027600"/>
                  </a:lnTo>
                  <a:lnTo>
                    <a:pt x="0" y="202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986" r="0" b="-1619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9227" cy="211333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Key Insights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71785" y="4388996"/>
            <a:ext cx="6746367" cy="2396042"/>
            <a:chOff x="0" y="0"/>
            <a:chExt cx="8995156" cy="319472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995156" cy="3194720"/>
            </a:xfrm>
            <a:custGeom>
              <a:avLst/>
              <a:gdLst/>
              <a:ahLst/>
              <a:cxnLst/>
              <a:rect r="r" b="b" t="t" l="l"/>
              <a:pathLst>
                <a:path h="3194720" w="8995156">
                  <a:moveTo>
                    <a:pt x="0" y="0"/>
                  </a:moveTo>
                  <a:lnTo>
                    <a:pt x="8995156" y="0"/>
                  </a:lnTo>
                  <a:lnTo>
                    <a:pt x="8995156" y="3194720"/>
                  </a:lnTo>
                  <a:lnTo>
                    <a:pt x="0" y="3194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62" r="0" b="-486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8995156" cy="32518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Credit history is most important factor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Higher income increases approval chances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Majority loans are approved 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90316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420" cy="1520704"/>
            <a:chOff x="0" y="0"/>
            <a:chExt cx="22059227" cy="20276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232" cy="2027600"/>
            </a:xfrm>
            <a:custGeom>
              <a:avLst/>
              <a:gdLst/>
              <a:ahLst/>
              <a:cxnLst/>
              <a:rect r="r" b="b" t="t" l="l"/>
              <a:pathLst>
                <a:path h="2027600" w="22059232">
                  <a:moveTo>
                    <a:pt x="0" y="0"/>
                  </a:moveTo>
                  <a:lnTo>
                    <a:pt x="22059232" y="0"/>
                  </a:lnTo>
                  <a:lnTo>
                    <a:pt x="22059232" y="2027600"/>
                  </a:lnTo>
                  <a:lnTo>
                    <a:pt x="0" y="202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986" r="0" b="-1619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9227" cy="211333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Conclusion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71785" y="4388996"/>
            <a:ext cx="6081570" cy="2396042"/>
            <a:chOff x="0" y="0"/>
            <a:chExt cx="8108760" cy="319472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08760" cy="3194720"/>
            </a:xfrm>
            <a:custGeom>
              <a:avLst/>
              <a:gdLst/>
              <a:ahLst/>
              <a:cxnLst/>
              <a:rect r="r" b="b" t="t" l="l"/>
              <a:pathLst>
                <a:path h="3194720" w="8108760">
                  <a:moveTo>
                    <a:pt x="0" y="0"/>
                  </a:moveTo>
                  <a:lnTo>
                    <a:pt x="8108760" y="0"/>
                  </a:lnTo>
                  <a:lnTo>
                    <a:pt x="8108760" y="3194720"/>
                  </a:lnTo>
                  <a:lnTo>
                    <a:pt x="0" y="3194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49" t="0" r="-549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8108760" cy="32518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PySpark handles large data efficiently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Machine learning improves prediction 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Power BI gives clear insights 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90316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27081"/>
            <a:ext cx="16544420" cy="1520704"/>
            <a:chOff x="0" y="0"/>
            <a:chExt cx="22059227" cy="20276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232" cy="2027600"/>
            </a:xfrm>
            <a:custGeom>
              <a:avLst/>
              <a:gdLst/>
              <a:ahLst/>
              <a:cxnLst/>
              <a:rect r="r" b="b" t="t" l="l"/>
              <a:pathLst>
                <a:path h="2027600" w="22059232">
                  <a:moveTo>
                    <a:pt x="0" y="0"/>
                  </a:moveTo>
                  <a:lnTo>
                    <a:pt x="22059232" y="0"/>
                  </a:lnTo>
                  <a:lnTo>
                    <a:pt x="22059232" y="2027600"/>
                  </a:lnTo>
                  <a:lnTo>
                    <a:pt x="0" y="202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986" r="0" b="-1619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9227" cy="211333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DAHIgARyhmw</dc:identifier>
  <dcterms:modified xsi:type="dcterms:W3CDTF">2011-08-01T06:04:30Z</dcterms:modified>
  <cp:revision>1</cp:revision>
  <dc:title>Copy of ramya.pptx</dc:title>
</cp:coreProperties>
</file>